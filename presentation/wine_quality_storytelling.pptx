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056612ebd54020" /><Relationship Type="http://schemas.openxmlformats.org/officeDocument/2006/relationships/extended-properties" Target="/docProps/app.xml" Id="R1faa8ae0db464e40" /><Relationship Type="http://schemas.openxmlformats.org/officeDocument/2006/relationships/officeDocument" Target="/ppt/presentation.xml" Id="Rc48a20e24bf2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5f49755fb4bea"/>
  </p:sldMasterIdLst>
  <p:notesMasterIdLst>
    <p:notesMasterId xmlns:r="http://schemas.openxmlformats.org/officeDocument/2006/relationships" r:id="R893dcfe310fa4ebd"/>
  </p:notesMasterIdLst>
  <p:sldIdLst>
    <p:sldId xmlns:r="http://schemas.openxmlformats.org/officeDocument/2006/relationships" id="256" r:id="Rb6d8462436914c6b"/>
    <p:sldId xmlns:r="http://schemas.openxmlformats.org/officeDocument/2006/relationships" id="257" r:id="R6654e15701fb45cf"/>
    <p:sldId xmlns:r="http://schemas.openxmlformats.org/officeDocument/2006/relationships" id="258" r:id="R87bc86785a65447a"/>
    <p:sldId xmlns:r="http://schemas.openxmlformats.org/officeDocument/2006/relationships" id="259" r:id="R8fc0fe63c0544b37"/>
    <p:sldId xmlns:r="http://schemas.openxmlformats.org/officeDocument/2006/relationships" id="260" r:id="Ra1d9e553bad04b8a"/>
    <p:sldId xmlns:r="http://schemas.openxmlformats.org/officeDocument/2006/relationships" id="261" r:id="R07e14bf2b0bb4559"/>
    <p:sldId xmlns:r="http://schemas.openxmlformats.org/officeDocument/2006/relationships" id="262" r:id="R0449e6b0b79649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2b7a6bfc8e4c5c" /><Relationship Type="http://schemas.openxmlformats.org/officeDocument/2006/relationships/slideMaster" Target="/ppt/slideMasters/slideMaster1.xml" Id="R1cf5f49755fb4bea" /><Relationship Type="http://schemas.openxmlformats.org/officeDocument/2006/relationships/notesMaster" Target="/ppt/notesMasters/notesMaster1.xml" Id="R893dcfe310fa4ebd" /><Relationship Type="http://schemas.openxmlformats.org/officeDocument/2006/relationships/presProps" Target="/ppt/presProps.xml" Id="Rd5e96dce64d641b3" /><Relationship Type="http://schemas.openxmlformats.org/officeDocument/2006/relationships/tableStyles" Target="/ppt/tableStyles.xml" Id="Ra315a50179564fd9" /><Relationship Type="http://schemas.openxmlformats.org/officeDocument/2006/relationships/slide" Target="/ppt/slides/slide1.xml" Id="Rb6d8462436914c6b" /><Relationship Type="http://schemas.openxmlformats.org/officeDocument/2006/relationships/slide" Target="/ppt/slides/slide2.xml" Id="R6654e15701fb45cf" /><Relationship Type="http://schemas.openxmlformats.org/officeDocument/2006/relationships/slide" Target="/ppt/slides/slide3.xml" Id="R87bc86785a65447a" /><Relationship Type="http://schemas.openxmlformats.org/officeDocument/2006/relationships/slide" Target="/ppt/slides/slide4.xml" Id="R8fc0fe63c0544b37" /><Relationship Type="http://schemas.openxmlformats.org/officeDocument/2006/relationships/slide" Target="/ppt/slides/slide5.xml" Id="Ra1d9e553bad04b8a" /><Relationship Type="http://schemas.openxmlformats.org/officeDocument/2006/relationships/slide" Target="/ppt/slides/slide6.xml" Id="R07e14bf2b0bb4559" /><Relationship Type="http://schemas.openxmlformats.org/officeDocument/2006/relationships/slide" Target="/ppt/slides/slide7.xml" Id="R0449e6b0b796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2ed26efc8b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cdf02bdf34d5b" /><Relationship Type="http://schemas.openxmlformats.org/officeDocument/2006/relationships/notesMaster" Target="/ppt/notesMasters/notesMaster1.xml" Id="R4a9a8d5c7f8e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8567ed3024f2f" /><Relationship Type="http://schemas.openxmlformats.org/officeDocument/2006/relationships/notesMaster" Target="/ppt/notesMasters/notesMaster1.xml" Id="R2bae9b6cdc6b42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6b347e6b240d5" /><Relationship Type="http://schemas.openxmlformats.org/officeDocument/2006/relationships/notesMaster" Target="/ppt/notesMasters/notesMaster1.xml" Id="Rd4eb216fdc9d41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e9f1d508b4b1e" /><Relationship Type="http://schemas.openxmlformats.org/officeDocument/2006/relationships/notesMaster" Target="/ppt/notesMasters/notesMaster1.xml" Id="Ra679f43af29549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bc4ff570d4bd8" /><Relationship Type="http://schemas.openxmlformats.org/officeDocument/2006/relationships/notesMaster" Target="/ppt/notesMasters/notesMaster1.xml" Id="R657d9b2069984a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a3636c6fc445df" /><Relationship Type="http://schemas.openxmlformats.org/officeDocument/2006/relationships/notesMaster" Target="/ppt/notesMasters/notesMaster1.xml" Id="R743be7cc636948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0743a5785a4df4" /><Relationship Type="http://schemas.openxmlformats.org/officeDocument/2006/relationships/notesMaster" Target="/ppt/notesMasters/notesMaster1.xml" Id="R111d04ee4cec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problema como uma decisão de negócio: antecipar quais lotes merecem atenção premium, sem substituir o enólogo.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gerada para esta apresentação com OpenAI ImageGen.</a:t>
            </a:r>
          </a:p>
          <a:p xmlns:a="http://schemas.openxmlformats.org/drawingml/2006/main">
            <a:r>
              <a:t>Dataset: https://www.kaggle.com/datasets/yasserh/wine-quality-dataset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apenas 13,5% das amostras são de alta qualidade. Por isso, o sucesso não é acertar a maioria, mas localizar os poucos vinhos com maior potencial.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Análise própria sobre WineQT.csv: 1.018 registros após remover 125 duplicatas exatas.</a:t>
            </a:r>
          </a:p>
          <a:p xmlns:a="http://schemas.openxmlformats.org/drawingml/2006/main">
            <a:r>
              <a:t>Dataset: https://www.kaggle.com/datasets/yasserh/wine-quality-dataset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sinais em linguagem de processo. Reforce que o gráfico mostra associação; o modelo não prova que mudar isoladamente um componente causará aumento de qualidade.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Análise própria: correlação ponto-bisserial/Pearson na base limpa.</a:t>
            </a:r>
          </a:p>
          <a:p xmlns:a="http://schemas.openxmlformats.org/drawingml/2006/main">
            <a:r>
              <a:t>Contexto do dataset original: https://archive.ics.uci.edu/dataset/186/wine+quality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ponto central é credibilidade: uma parte dos dados ficou reservada até o fim. Assim, o resultado representa melhor o comportamento esperado em lotes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Metodologia e código: src/modeling.py e src/run_analysis.py deste repositório.</a:t>
            </a:r>
          </a:p>
          <a:p xmlns:a="http://schemas.openxmlformats.org/drawingml/2006/main">
            <a:r>
              <a:t>Métricas: results/model_metrics.csv.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 27 vinhos realmente bons, o modelo encontrou 24 e deixou passar 3. Ele gerou 45 alertas, dos quais 24 foram confirmados. Isso é útil para priorizar, mas não para automatizar a decisão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Análise própria: results/classification_report_random_forest.json.</a:t>
            </a:r>
          </a:p>
          <a:p xmlns:a="http://schemas.openxmlformats.org/drawingml/2006/main">
            <a:r>
              <a:t>Teste estratificado: 204 amostras; random_state=42.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três alternativas receberam os mesmos dados. O Random Forest encontrou 88,9% dos vinhos bons, enquanto as outras duas encontraram 63%. Por isso, ele foi escolhido para a triagem.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Análise própria: results/model_metrics.csv.</a:t>
            </a:r>
          </a:p>
          <a:p xmlns:a="http://schemas.openxmlformats.org/drawingml/2006/main">
            <a:r>
              <a:t>Modelos: Regressão Logística, Random Forest e SVM RBF.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a decisão recomendada e os próximos passos. O modelo cria valor quando organiza a fila de análise e aprende com novos lotes.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Limitações derivadas da documentação do dataset: https://archive.ics.uci.edu/dataset/186/wine+quality</a:t>
            </a:r>
          </a:p>
          <a:p xmlns:a="http://schemas.openxmlformats.org/drawingml/2006/main">
            <a:r>
              <a:t>Pipeline e resultados: repositório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ae224cf5d40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485bc11d04018" /><Relationship Type="http://schemas.openxmlformats.org/officeDocument/2006/relationships/slideLayout" Target="/ppt/slideLayouts/slideLayout1.xml" Id="Re59434f0fb5b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434f0fb5b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9e542f6a45ad" /><Relationship Type="http://schemas.openxmlformats.org/officeDocument/2006/relationships/image" Target="/ppt/media/image.png" Id="R2dbf0af136324b24" /><Relationship Type="http://schemas.openxmlformats.org/officeDocument/2006/relationships/notesSlide" Target="/ppt/notesSlides/notesSlide1.xml" Id="R90b6485078ca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40a5577fd4846" /><Relationship Type="http://schemas.openxmlformats.org/officeDocument/2006/relationships/image" Target="/ppt/media/image2.png" Id="R3b8cc51e21784bdf" /><Relationship Type="http://schemas.openxmlformats.org/officeDocument/2006/relationships/notesSlide" Target="/ppt/notesSlides/notesSlide2.xml" Id="Rff1c486cd551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37b126d6347bc" /><Relationship Type="http://schemas.openxmlformats.org/officeDocument/2006/relationships/image" Target="/ppt/media/image3.png" Id="Ra0211e9292794990" /><Relationship Type="http://schemas.openxmlformats.org/officeDocument/2006/relationships/notesSlide" Target="/ppt/notesSlides/notesSlide3.xml" Id="Rb9d4b5732f10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d20e6ba44297" /><Relationship Type="http://schemas.openxmlformats.org/officeDocument/2006/relationships/notesSlide" Target="/ppt/notesSlides/notesSlide4.xml" Id="R39028c1865e0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28cfa6a404b31" /><Relationship Type="http://schemas.openxmlformats.org/officeDocument/2006/relationships/notesSlide" Target="/ppt/notesSlides/notesSlide5.xml" Id="R4ef0b4ba60a94d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b21df9e9e4c4c" /><Relationship Type="http://schemas.openxmlformats.org/officeDocument/2006/relationships/notesSlide" Target="/ppt/notesSlides/notesSlide6.xml" Id="R3ceef4d249d7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c703024a4d5c" /><Relationship Type="http://schemas.openxmlformats.org/officeDocument/2006/relationships/notesSlide" Target="/ppt/notesSlides/notesSlide7.xml" Id="Rd2de7a5898b2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EA53F-88D3-49DA-B429-B88E91A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720C9-BFC3-4AD2-98BE-48E2D96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TECH CHALLENGE · FASE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A4ED-D952-40DF-980C-326BEB9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84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Qualidade do vinho,</a:t>
            </a:r>
          </a:p>
          <a:p xmlns:a="http://schemas.openxmlformats.org/drawingml/2006/main">
            <a:pPr algn="l">
              <a:defRPr sz="4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antecipada pelos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E2D5F-CCCC-4A30-B898-93AE899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Classificação binária a partir de medições físico-químicas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16128-DF5D-4567-B2B7-09C1D163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Emerson Meira  ·  Pós-Tech Data Analytics — FIAP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f0af136324b24"/>
          <a:srcRect xmlns:a="http://schemas.openxmlformats.org/drawingml/2006/main" l="0" t="14388" r="0" b="1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00050"/>
            <a:ext cx="5295900" cy="5657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85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C91CD-F367-41E0-889A-3848A7B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Alta qualidade é rara — e exige uma régua mais cuidadosa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7E849-208C-4506-81C8-977DEB0B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68DEC-F628-4442-8189-E309BF35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cc51e21784bdf"/>
          <a:stretch xmlns:a="http://schemas.openxmlformats.org/drawingml/2006/main"/>
        </p:blipFill>
        <p:spPr>
          <a:xfrm xmlns:a="http://schemas.openxmlformats.org/drawingml/2006/main">
            <a:off x="514350" y="1398814"/>
            <a:ext cx="6191250" cy="442232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B7149-30C6-4A01-81E2-AD0D461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954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13,5%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09274-5376-47C9-893B-084D7E2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dos vinhos limpos têm nota 7 ou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8F119-A4B6-41DA-A857-8AF053C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638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Olhar apenas o percentual geral de acertos esconderia os vinhos que mais importam. A avaliação precisa priorizar a classe rara.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3B76C-7BAC-45F1-995C-8228B805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Tech Challenge — Fase 2 | FIAP</a:t>
            </a:r>
          </a:p>
        </p:txBody>
      </p:sp>
    </p:spTree>
    <p:extLst>
      <p:ext uri="{BB962C8B-B14F-4D97-AF65-F5344CB8AC3E}">
        <p14:creationId xmlns:p14="http://schemas.microsoft.com/office/powerpoint/2010/main" val="620559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FE84B-F24B-4F6A-A231-74112230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6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Álcool, sulfatos e acidez volátil concentram os sinais mais úteis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1DE63-F6D2-4657-9880-B2673C68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0D76E-2FA1-4556-8049-51A2B62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2C3EC-C87B-4A4B-A433-E035400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Álcool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87A09-B201-49AD-965E-8A6D1D7D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Maior associação positiva com alta qualidade.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45B57-7D91-434C-86DB-08EC310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Sulfatos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7F97B-BF2A-427F-B30C-7FB632A1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Foi um dos sinais mais decisivos nas previsões finais.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8AD00-D7B5-4B5B-8E4D-2D409C4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6F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6F8F"/>
                </a:solidFill>
                <a:latin typeface="Arial"/>
                <a:ea typeface="Arial"/>
                <a:cs typeface="Arial"/>
              </a:rPr>
              <a:t>Acidez volátil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AD89F-C807-40D6-BFE5-8A6DFBB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Associação negativa: níveis maiores reduzem a chance estimada de nota alta.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11e9292794990"/>
          <a:stretch xmlns:a="http://schemas.openxmlformats.org/drawingml/2006/main"/>
        </p:blipFill>
        <p:spPr>
          <a:xfrm xmlns:a="http://schemas.openxmlformats.org/drawingml/2006/main">
            <a:off x="4762500" y="1439863"/>
            <a:ext cx="6896100" cy="4597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E2FC1-202D-481E-9DD2-E95C1B4D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Associação não implica causalidade · Tech Challenge — Fase 2 | FIAP</a:t>
            </a:r>
          </a:p>
        </p:txBody>
      </p:sp>
    </p:spTree>
    <p:extLst>
      <p:ext uri="{BB962C8B-B14F-4D97-AF65-F5344CB8AC3E}">
        <p14:creationId xmlns:p14="http://schemas.microsoft.com/office/powerpoint/2010/main" val="56887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56965-6249-4DC9-948C-1E3BDAA2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Testamos o resultado em casos que o modelo nunca viu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742D0-1239-4E06-82B0-92B232B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795C5-EB2A-4309-9B02-AFF7DF5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066800" y="318135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9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73B44-E217-4A19-90FF-62C6F1B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6DF82-A71F-45CB-891E-B755080F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A8E30-9D60-4693-946B-35E0DCF9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1.018 amostras úteis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6A41F-3C47-4DD5-8143-2B302EB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2619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Sem dados ausentes. Identificador e duplicatas removidos; extremos reais foram preservados.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29F87-1DE8-48D4-BD77-8637D71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B5869-0A09-47E3-A37E-B6440F6C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964DB-89AE-4CF9-A4B8-801CD88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43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alternativas avaliadas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C9986-01F5-4D42-B1EC-3C13CD2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619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 opções receberam os mesmos dados e foram avaliadas sob as mesmas regras.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59E67-A626-4AAC-B729-8C6796E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59E2A-707F-47DD-BB74-0967500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65FCD-C988-40E2-92EB-3A8E848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204 casos reservados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54C6E-4E0D-409D-843A-11ECD519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619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decisão final foi medida uma única vez em amostras mantidas fora do desenvolvimento.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0C5AD-522B-48E0-A94C-6F53663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Tech Challenge — Fase 2 | FIAP</a:t>
            </a:r>
          </a:p>
        </p:txBody>
      </p:sp>
    </p:spTree>
    <p:extLst>
      <p:ext uri="{BB962C8B-B14F-4D97-AF65-F5344CB8AC3E}">
        <p14:creationId xmlns:p14="http://schemas.microsoft.com/office/powerpoint/2010/main" val="514933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21432-F702-4B2F-AE25-B7EE39E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 modelo encontra 8 em cada 9 vinhos de alta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5F522-1850-4366-9AE8-A31D99B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AE399-D37B-4E2F-ABBC-E725DAE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9ADD2-9A26-4D04-8CA1-4A2C15A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88,9%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B332D-DDB0-42A7-A6C4-FFE07A7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dos vinhos de alta qualidade foram 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38633-AD1D-4577-A3EB-D83A0DD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74DE8-3B48-4F1C-9BFF-AFA1EE93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vinhos bons identificados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C2762-C0A1-4ED6-A221-727A05C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50679-BE0D-4CC6-ABBC-63A6C297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764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B6F8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B6F8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20DAA-8DF9-4422-9DBA-154DDEC1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vinhos bons não identificados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19DE-F96E-4442-A255-6F45031E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565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4ED5F-B2E4-4E00-981C-CB9976E9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682A0-2478-4D78-8603-B1412CB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lotes seriam encaminhados para revisão especializada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53BC9-B57C-414E-BFC8-DA464220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292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0F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B0F24"/>
                </a:solidFill>
                <a:latin typeface="Arial"/>
                <a:ea typeface="Arial"/>
                <a:cs typeface="Arial"/>
              </a:rPr>
              <a:t>Desses alertas, 24 eram realmente de alta qualidade. A avaliação humana continua essencial.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9B95D-0A1D-4BCC-B9FA-CD0F338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Resultado em 204 casos reservados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B7A62-6498-43C9-977B-C75783BE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Tech Challenge — Fase 2 | FIAP</a:t>
            </a:r>
          </a:p>
        </p:txBody>
      </p:sp>
    </p:spTree>
    <p:extLst>
      <p:ext uri="{BB962C8B-B14F-4D97-AF65-F5344CB8AC3E}">
        <p14:creationId xmlns:p14="http://schemas.microsoft.com/office/powerpoint/2010/main" val="1124119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96EAF-CCD4-407E-A20B-2B10664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Random Forest encontrou mais vinhos de alta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F47A0-92A7-4524-8223-2C7F7DE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2AA1D-C882-4A77-B8ED-1A35E19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7A1F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E9131-D3B8-427B-8848-841354F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Alternativa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50DD4-4C1E-44BA-90A0-ABC82BA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04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Vinhos bons</a:t>
            </a:r>
          </a:p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AD23-4CA7-4725-8196-95BA43D3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Alertas</a:t>
            </a:r>
          </a:p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confirmados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3D7A-BD4D-4038-9D00-E5B3AFF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859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5DA06-60A5-48B1-BCD5-DEBD8FE4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8629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B1773-CF41-4376-97AE-1053A5B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9767B-9B69-4BC0-BF4F-21948F83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57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88,9%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A23A-5527-46CC-B31B-24B9FC23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53,3%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D0652-72A0-4AB8-8A3A-CB4EFFF4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60EA-1393-4B99-B2D0-DF785B59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63,0%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D9542-24EC-4B22-85D7-7BB242FC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45,9%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A0AD2-03BF-403C-86FA-FF4BFEB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Regressão logística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7E806-090D-424D-B190-43E19CD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63,0%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AE0AE-1CA2-44B0-863E-055F75E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42,5%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BB558-C946-445B-80D0-A4BD10D2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40A1D-6C7E-457B-913B-88637BA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526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8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O que isso muda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C79AB-8CA0-43FA-A009-2CC7F77C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9621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melhor opção amplia a chance de identificar lotes promissores antes da degustação.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70637-20AB-48EE-B4E9-F4DAD418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962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6F8F"/>
                </a:solidFill>
                <a:latin typeface="Arial"/>
                <a:ea typeface="Arial"/>
                <a:cs typeface="Arial"/>
              </a:rPr>
              <a:t>A confirmação humana continua necessária.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11C3C-A167-43DE-B1F6-50FE58CA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Tech Challenge — Fase 2 | FIAP</a:t>
            </a:r>
          </a:p>
        </p:txBody>
      </p:sp>
    </p:spTree>
    <p:extLst>
      <p:ext uri="{BB962C8B-B14F-4D97-AF65-F5344CB8AC3E}">
        <p14:creationId xmlns:p14="http://schemas.microsoft.com/office/powerpoint/2010/main" val="783350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62554-BE9D-4729-BFB9-BE248B8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5A6B-249E-4ACB-87B7-48E3860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334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o modelo como triagem,</a:t>
            </a:r>
          </a:p>
          <a:p xmlns:a="http://schemas.openxmlformats.org/drawingml/2006/main">
            <a:pPr algn="l"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não como piloto automático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F3A09-5CB8-4E54-A82D-7C268E3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4D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C2EDE-A5F6-4039-A51D-0160717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F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A1F4D"/>
                </a:solidFill>
                <a:latin typeface="Arial"/>
                <a:ea typeface="Arial"/>
                <a:cs typeface="Arial"/>
              </a:rPr>
              <a:t>1 · Priorizar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DB232-3A88-495C-B2B9-7408AAC3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Direcione lotes com maior probabilidade para avaliação especializada.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268C3-64E9-49DE-8A62-564A99D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2C26F-0FF1-4CD3-8D04-8DE6A1C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· Confirmar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A8566-9179-4BEF-872D-1379F746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Mantenha a decisão final com o enólogo e registre falsos alertas.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BB8D5-163D-4DD9-B77D-7C5D2AD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F6E1F-5E24-4C5E-B9CA-F512291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· Aprender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B312B-C48C-4A0B-9A44-D8CF94C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29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Valide em novos lotes, inclua safra e processo e revise a regra de decisão.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1E328-57FA-47F9-AB12-E207E2D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Limite atual: base pequena, desbalanceada e restrita a vinhos tintos Vinho Verde.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D5EFD-83CB-4EAB-8850-9AE7BB9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513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2026-08-30T18:57:30.1290000Z</dcterms:created>
  <dcterms:modified xsi:type="dcterms:W3CDTF">2026-08-30T18:57:30.1290000Z</dcterms:modified>
</coreProperties>
</file>